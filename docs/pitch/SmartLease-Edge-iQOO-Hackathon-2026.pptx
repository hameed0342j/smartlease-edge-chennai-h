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0:00-0:10. Say: 'SmartLease Edge turns the iQOO 15 into a property inspector. Point the camera, tap the wall, point the IR blaster at the AC, and in sixty seconds both tenant and landlord get a signed report. Nothing leaves the phone.'</a:t>
            </a:r>
          </a:p>
          <a:p/>
          <a:p>
            <a:r>
              <a:t>PITCH CUT (3-5 min final pitch): use slides 1, 2, 4, 5, 8, 9, 11, 12, 15. Idea-screening submission: all slides 1-15; 16-17 are appendix.</a:t>
            </a:r>
          </a:p>
          <a:p>
            <a:r>
              <a:t>Fill in team names and bucket before submitting. Replace mockups with real screenshots as soon as the UI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0:10-0:45. Hook with a person, not a market: Priya. Then the three numbers. Close on the root cause: no timestamped baseline.</a:t>
            </a:r>
          </a:p>
          <a:p>
            <a:r>
              <a:t>Sources on slide (all verifiable): Model Tenancy Act 2021 cap = 2 months residential (PRS India). Bengaluru 6-10 months is market practice, not law. '&gt;40% of disputes' is an industry estimate from rental portals (99acres/RentConnect), say 'industry estimate' out loud. NoBroker inspection price from its own listing.</a:t>
            </a:r>
          </a:p>
          <a:p>
            <a:r>
              <a:t>Do NOT use the older draft numbers (Rs 2,400 crore, 1.1 crore agreements, 38%) - no source was found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0:45-1:05. This slide answers the question every on-device-AI judge asks: is local execution essential or decorative? ExecuTorch hackathon organisers said winners were apps 'where local execution was essential to the product experience'. Here it is essential three ways.</a:t>
            </a:r>
          </a:p>
          <a:p>
            <a:r>
              <a:t>Sources: Qualcomm Snapdragon 8 Elite Gen 5 product brief (37% NPU); Qualcomm AI Hub Llama-v3.2-3B-Instruct model card + Grape Up benchmark (~10 tok/s W4A16 via Genie).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1:05-1:30. Walk the three phones left to right. One sentence each. Then the IR line: 'we test whether the AC works, not whether it looks fine'. That functional-test line is the novelty claim no competitor matches; land it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1:30-3:00 is the LIVE DEMO itself; this slide is the backdrop. One presenter narrates, one drives the phone. Skip logins and setup screens. Rehearse 5+ times. Jury 'sees your demo cold at the end', so this single flow must reach its punchline (the PDF).</a:t>
            </a:r>
          </a:p>
          <a:p>
            <a:r>
              <a:t>Telemetry: HackTracker scores creative phone use (camera, mic, on-device AI) and Office Kit usage from device data, so every step deliberately exercises a sensor.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Technical-depth slide. If asked 'why nano not a bigger model': nano fits HTP memory at 6 MB INT8 and hits 30 ms; larger models do not improve mAP meaningfully on wall defects. If asked accuracy of area: pinhole model, +/-10% with ARCore depth, +/-20% with typed distance. Say 'targets' for numbers not yet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Creative phone use. Professional tile-sounding needs a trained inspector and dedicated tools; here the phone mic replaces them. Be explicit that the spectrogram is a signal model; real spectrograms from the collected data replace it after Day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diagram, three processor lanes, like the Qualcomm Bengaluru winner GameSense (NPU = models, CPU = glue, plus the IR state machine). Point out the manifest has no INTERNET permission: that is the offline claim made verifiable in 2 seconds.</a:t>
            </a:r>
          </a:p>
          <a:p>
            <a:r>
              <a:t>If asked about the vivo Q3 co-processor: we do not target it (no public SDK); we use the Hexagon NPU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'Device Performance / Phone-first thinking' answer. Name the exact hardware and the exact job; generic 'we used the NPU' scores nothing. Specs verified against iQOO product page, GSMArena and 91mobiles.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Office Kit usage is 10% of the score and measured by telemetry (HackTracker), not by the pitch. So Office Kit must be used visibly and often: mirror, file transfer, remote control. Every model has a fallback so the demo never stalls; 'a well-built simple product beats a broken complex one' is the organiser's own motto.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Novelty slide. Say the narrow, defensible claim exactly as written. If a judge names zInspector or RentCheck, agree they have AI, then point to the two empty columns: offline and functional testing. Prices from vendor pages as of Aug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Judges punish decks that overclaim; JetBrains judges: 'be very direct about what works, what doesn't'. This slide is the credibility anchor. Everything in column 1 is in the GitHub repo today (app/src/main/java/com/smartlease/edge). Column 2 items move left as they land; update this slide the night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sizing if asked: India's paid inspection-tool market is nascent; NoBroker is the only major domestic player. Distribution and trust are the bottleneck, not the tech. Say that plainly; it reads as market awareness. Business model: free for consumers, B2B2C licensing is the revenue anchor.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Weights are the published iQOO 2026 rubric (Reskilll/iQOO portal): 30/20/15/15/10/10, with 25% (phone use + Office Kit) measured from HackTracker device telemetry. Fill in names. If the team is mixed student/professional, note that buckets cannot mix.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4:30-5:00. Slow down. One line: 'Let us in the room. The models are trained; the 30 hours are for integration and polish.' Then stop talking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slide. Do not present; open only when a question comes. Answers mirror the battle plan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statistic on the deck traces to one of these. If a judge challenges a number, name the source. Never use a number that is not on this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42B"/>
            </a:gs>
            <a:gs pos="100000">
              <a:srgbClr val="2D1A63"/>
            </a:gs>
          </a:gsLst>
          <a:lin scaled="0" ang="19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6949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IQOO HACKATHON 2026  ·  SMART LIVING TRACK  ·  CHENNAI CITY BATTLE  ·  SEP 12–13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694944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1" i="0">
                <a:solidFill>
                  <a:srgbClr val="FFFFFF"/>
                </a:solidFill>
                <a:latin typeface="Segoe UI"/>
              </a:rPr>
              <a:t>SmartLease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6949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F1EEFA"/>
                </a:solidFill>
                <a:latin typeface="Segoe UI"/>
              </a:rPr>
              <a:t>Your phone is the property inspector.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66751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A9A6C2"/>
                </a:solidFill>
                <a:latin typeface="Segoe UI"/>
              </a:rPr>
              <a:t>Camera, microphone and IR blaster feed three on-device models on the iQOO 15. Sixty seconds later, tenant and landlord hold one timestamped move-out report. No internet at any step, and no network permission in the manifest.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14800"/>
            <a:ext cx="1426464" cy="329184"/>
          </a:xfrm>
          <a:prstGeom prst="roundRect">
            <a:avLst>
              <a:gd name="adj" fmla="val 50000"/>
            </a:avLst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42646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5A623"/>
                </a:solidFill>
                <a:latin typeface="Segoe UI"/>
              </a:rPr>
              <a:t>100% OFFLINE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76272" y="4114800"/>
            <a:ext cx="2386584" cy="329184"/>
          </a:xfrm>
          <a:prstGeom prst="roundRect">
            <a:avLst>
              <a:gd name="adj" fmla="val 50000"/>
            </a:avLst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76272" y="4114800"/>
            <a:ext cx="23865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5A623"/>
                </a:solidFill>
                <a:latin typeface="Segoe UI"/>
              </a:rPr>
              <a:t>ON-DEVICE VISION + ACOUSTICS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72583" y="4114800"/>
            <a:ext cx="2578608" cy="329184"/>
          </a:xfrm>
          <a:prstGeom prst="roundRect">
            <a:avLst>
              <a:gd name="adj" fmla="val 50000"/>
            </a:avLst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3" y="4114800"/>
            <a:ext cx="2578608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5A623"/>
                </a:solidFill>
                <a:latin typeface="Segoe UI"/>
              </a:rPr>
              <a:t>SNAPDRAGON 8 ELITE GEN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3542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35424"/>
            <a:ext cx="123444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5A623"/>
                </a:solidFill>
                <a:latin typeface="Segoe UI"/>
              </a:rPr>
              <a:t>OFFLINE PDF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83480"/>
            <a:ext cx="6949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1EEFA"/>
                </a:solidFill>
                <a:latin typeface="Segoe UI"/>
              </a:rPr>
              <a:t>TEAM  [Team name]  ·  [Member 1]  ·  [Member 2]  ·  [Member 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03520"/>
            <a:ext cx="6949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A9A6C2"/>
                </a:solidFill>
                <a:latin typeface="Segoe UI"/>
              </a:rPr>
              <a:t>[Student / Professional bucket]  ·  github.com/muhammedsayeedurrahman/smartlease-edge-chennai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960120"/>
            <a:ext cx="1874519" cy="3890772"/>
          </a:xfrm>
          <a:prstGeom prst="roundRect">
            <a:avLst>
              <a:gd name="adj" fmla="val 21951"/>
            </a:avLst>
          </a:prstGeom>
          <a:solidFill>
            <a:srgbClr val="0B0B1A"/>
          </a:solidFill>
          <a:ln w="15875">
            <a:solidFill>
              <a:srgbClr val="4A4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reen_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2" y="1033272"/>
            <a:ext cx="1728216" cy="3744468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8709660" y="1088136"/>
            <a:ext cx="91440" cy="91440"/>
          </a:xfrm>
          <a:prstGeom prst="ellipse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29800" y="1691640"/>
            <a:ext cx="1874519" cy="3890772"/>
          </a:xfrm>
          <a:prstGeom prst="roundRect">
            <a:avLst>
              <a:gd name="adj" fmla="val 21951"/>
            </a:avLst>
          </a:prstGeom>
          <a:solidFill>
            <a:srgbClr val="0B0B1A"/>
          </a:solidFill>
          <a:ln w="15875">
            <a:solidFill>
              <a:srgbClr val="4A4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creen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952" y="1764792"/>
            <a:ext cx="1728216" cy="3744468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10721340" y="1819656"/>
            <a:ext cx="91440" cy="91440"/>
          </a:xfrm>
          <a:prstGeom prst="ellipse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608076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8D8AAB"/>
                </a:solidFill>
                <a:latin typeface="Segoe UI"/>
              </a:rPr>
              <a:t>Target UI - representative mockup, not a screenshot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crack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Move-out day in India is a memory contest, with up to ten months' rent at stake.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NOVELTY &amp; IMPACT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20%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02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2743200" cy="86868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5A623"/>
                </a:solidFill>
                <a:latin typeface="Segoe UI"/>
              </a:rPr>
              <a:t>6–10 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79191"/>
            <a:ext cx="27432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9A6C2"/>
                </a:solidFill>
                <a:latin typeface="Segoe UI"/>
              </a:rPr>
              <a:t>rent held as deposit in Bengaluru, versus the 2-month cap the Model Tenancy Act 2021 recommends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02152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8D8AAB"/>
                </a:solidFill>
                <a:latin typeface="Segoe UI"/>
              </a:rPr>
              <a:t>PRS India; Mittiyo, Werentt (Karnataka deposit guides)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783080"/>
            <a:ext cx="2743200" cy="86868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5A623"/>
                </a:solidFill>
                <a:latin typeface="Segoe UI"/>
              </a:rPr>
              <a:t>&gt;40%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679191"/>
            <a:ext cx="27432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9A6C2"/>
                </a:solidFill>
                <a:latin typeface="Segoe UI"/>
              </a:rPr>
              <a:t>of landlord–tenant disputes in India are about the security deposit (industry estimate)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502152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8D8AAB"/>
                </a:solidFill>
                <a:latin typeface="Segoe UI"/>
              </a:rPr>
              <a:t>99acres; RentConnect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83080"/>
            <a:ext cx="2834640" cy="86868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5A623"/>
                </a:solidFill>
                <a:latin typeface="Segoe UI"/>
              </a:rPr>
              <a:t>₹1,649–5,999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79191"/>
            <a:ext cx="28346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9A6C2"/>
                </a:solidFill>
                <a:latin typeface="Segoe UI"/>
              </a:rPr>
              <a:t>for a human NoBroker inspection, booked days ahead. Most tenants never get 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502152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8D8AAB"/>
                </a:solidFill>
                <a:latin typeface="Segoe UI"/>
              </a:rPr>
              <a:t>NoBroker property-inspection pricing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783080"/>
            <a:ext cx="2423160" cy="2377440"/>
          </a:xfrm>
          <a:prstGeom prst="roundRect">
            <a:avLst>
              <a:gd name="adj" fmla="val 5384"/>
            </a:avLst>
          </a:prstGeom>
          <a:solidFill>
            <a:srgbClr val="1E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81160" y="1892807"/>
            <a:ext cx="54864" cy="215798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1911095"/>
            <a:ext cx="201167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Priya, Anna Nagar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368296"/>
            <a:ext cx="2011680" cy="17922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A9A6C2"/>
                </a:solidFill>
                <a:latin typeface="Segoe UI"/>
              </a:rPr>
              <a:t>Moved in with 12 WhatsApp photos. Moves out to hear 'that crack is new'. ₹90,000 deposit, no neutral referee, no timestamp.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526280"/>
            <a:ext cx="11183112" cy="1417320"/>
          </a:xfrm>
          <a:prstGeom prst="roundRect">
            <a:avLst>
              <a:gd name="adj" fmla="val 9032"/>
            </a:avLst>
          </a:prstGeom>
          <a:solidFill>
            <a:srgbClr val="1E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636008"/>
            <a:ext cx="64008" cy="1197864"/>
          </a:xfrm>
          <a:prstGeom prst="roundRect">
            <a:avLst>
              <a:gd name="adj" fmla="val 42857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1772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ROOT CAUSE, EVERY SOURCE AGREES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37760"/>
            <a:ext cx="107899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No timestamped move-in documentation. </a:t>
            </a:r>
            <a:r>
              <a:rPr sz="1600" b="0" i="0">
                <a:solidFill>
                  <a:srgbClr val="F1EEFA"/>
                </a:solidFill>
                <a:latin typeface="Segoe UI"/>
              </a:rPr>
              <a:t>Photos are subjective, undated and easy to dispute. A surveyor is slow and expensive. And in the empty flat where the inspection happens, there is often no Wi-Fi at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WHY ON-DEVICE,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The report has to be made where the internet isn't: an empty flat, a stranger's home, in sixty seconds.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NOVELTY &amp; IMPACT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20%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03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3611880" cy="2331720"/>
          </a:xfrm>
          <a:prstGeom prst="roundRect">
            <a:avLst>
              <a:gd name="adj" fmla="val 5490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off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837944"/>
            <a:ext cx="347472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1288" y="1819656"/>
            <a:ext cx="28163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Offline is the 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276856"/>
            <a:ext cx="3273552" cy="174650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A9A6C2"/>
                </a:solidFill>
                <a:latin typeface="Segoe UI"/>
              </a:rPr>
              <a:t>Move-outs happen in vacated flats with the Wi-Fi cancelled. Tier-2/3 connectivity is patchy. A cloud app fails exactly when it is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691640"/>
            <a:ext cx="3611880" cy="2331720"/>
          </a:xfrm>
          <a:prstGeom prst="roundRect">
            <a:avLst>
              <a:gd name="adj" fmla="val 5490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59" y="1837944"/>
            <a:ext cx="347472" cy="3474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37759" y="1819656"/>
            <a:ext cx="28163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Private by physics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276856"/>
            <a:ext cx="3273552" cy="174650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A9A6C2"/>
                </a:solidFill>
                <a:latin typeface="Segoe UI"/>
              </a:rPr>
              <a:t>Interior photos, tenant IDs and deposit amounts never leave the handset. No account, no upload, no analytics.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1691640"/>
            <a:ext cx="3611880" cy="2331720"/>
          </a:xfrm>
          <a:prstGeom prst="roundRect">
            <a:avLst>
              <a:gd name="adj" fmla="val 5490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1837944"/>
            <a:ext cx="347472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14232" y="1819656"/>
            <a:ext cx="2816351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Real-time or useless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2276856"/>
            <a:ext cx="3273552" cy="174650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A9A6C2"/>
                </a:solidFill>
                <a:latin typeface="Segoe UI"/>
              </a:rPr>
              <a:t>AR alignment and defect overlays update per frame. A 400 ms cloud round-trip makes the overlay swim; on-device inference answers without 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97680"/>
            <a:ext cx="11183112" cy="1783080"/>
          </a:xfrm>
          <a:prstGeom prst="roundRect">
            <a:avLst>
              <a:gd name="adj" fmla="val 7179"/>
            </a:avLst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07408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WHY NOW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091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Three years ago this pipeline needed a laptop and a cloud key. On the iQOO 15 it fits in a pocket.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6636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F5A623"/>
                </a:solidFill>
                <a:latin typeface="Segoe UI"/>
              </a:rPr>
              <a:t>37% faster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57784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Hexagon NPU in Snapdragon 8 Elite Gen 5 vs prior gen (Qualcomm) - headroom we have not taken up yet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16636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F5A623"/>
                </a:solidFill>
                <a:latin typeface="Segoe UI"/>
              </a:rPr>
              <a:t>36 MACs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57784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The whole tap classifier: a 36-feature logistic regression, small enough to run on any 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516636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F5A623"/>
                </a:solidFill>
                <a:latin typeface="Segoe UI"/>
              </a:rPr>
              <a:t>2,106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557784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labelled defect images behind the 4-class YOLOv8n-Seg segmenter that ships in the APK today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Three sensors. One signed report. Zero internet.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END PRODUCT QUALITY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30%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04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600200" cy="3296412"/>
          </a:xfrm>
          <a:prstGeom prst="roundRect">
            <a:avLst>
              <a:gd name="adj" fmla="val 25714"/>
            </a:avLst>
          </a:prstGeom>
          <a:solidFill>
            <a:srgbClr val="0B0B1A"/>
          </a:solidFill>
          <a:ln w="15875">
            <a:solidFill>
              <a:srgbClr val="4A4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_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673352"/>
            <a:ext cx="1453896" cy="3150108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1440180" y="1728216"/>
            <a:ext cx="91440" cy="91440"/>
          </a:xfrm>
          <a:prstGeom prst="ellipse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691640"/>
            <a:ext cx="365760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26080" y="1664208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5A623"/>
                </a:solidFill>
                <a:latin typeface="Segoe UI"/>
              </a:rPr>
              <a:t>VISION 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148840"/>
            <a:ext cx="1920240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F1EEFA"/>
                </a:solidFill>
                <a:latin typeface="Segoe UI"/>
              </a:rPr>
              <a:t>YOLOv8n-Seg finds cracks, stains, peeling paint and reports area in sq ft with a severity band.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206240" y="3566160"/>
            <a:ext cx="274320" cy="274320"/>
          </a:xfrm>
          <a:prstGeom prst="rightArrow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26280" y="1600200"/>
            <a:ext cx="1600200" cy="3296412"/>
          </a:xfrm>
          <a:prstGeom prst="roundRect">
            <a:avLst>
              <a:gd name="adj" fmla="val 25714"/>
            </a:avLst>
          </a:prstGeom>
          <a:solidFill>
            <a:srgbClr val="0B0B1A"/>
          </a:solidFill>
          <a:ln w="15875">
            <a:solidFill>
              <a:srgbClr val="4A4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reen_t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1673352"/>
            <a:ext cx="1453896" cy="3150108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5280660" y="1728216"/>
            <a:ext cx="91440" cy="91440"/>
          </a:xfrm>
          <a:prstGeom prst="ellipse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691640"/>
            <a:ext cx="365760" cy="3657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66560" y="1664208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5A623"/>
                </a:solidFill>
                <a:latin typeface="Segoe UI"/>
              </a:rPr>
              <a:t>TAP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148840"/>
            <a:ext cx="1920240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F1EEFA"/>
                </a:solidFill>
                <a:latin typeface="Segoe UI"/>
              </a:rPr>
              <a:t>Knuckle-tap a tile. A 250 ms transient becomes 36 spectral features and a logistic regression calls it hollow or solid, on the CPU.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046720" y="3566160"/>
            <a:ext cx="274320" cy="274320"/>
          </a:xfrm>
          <a:prstGeom prst="rightArrow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66760" y="1600200"/>
            <a:ext cx="1600200" cy="3296412"/>
          </a:xfrm>
          <a:prstGeom prst="roundRect">
            <a:avLst>
              <a:gd name="adj" fmla="val 25714"/>
            </a:avLst>
          </a:prstGeom>
          <a:solidFill>
            <a:srgbClr val="0B0B1A"/>
          </a:solidFill>
          <a:ln w="15875">
            <a:solidFill>
              <a:srgbClr val="4A4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creen_re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912" y="1673352"/>
            <a:ext cx="1453896" cy="3150108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9121140" y="1728216"/>
            <a:ext cx="91440" cy="91440"/>
          </a:xfrm>
          <a:prstGeom prst="ellipse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o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40" y="1691640"/>
            <a:ext cx="365760" cy="3657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607040" y="1664208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5A623"/>
                </a:solidFill>
                <a:latin typeface="Segoe UI"/>
              </a:rPr>
              <a:t>SIGNED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148840"/>
            <a:ext cx="1920240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F1EEFA"/>
                </a:solidFill>
                <a:latin typeface="Segoe UI"/>
              </a:rPr>
              <a:t>The findings are written into a plain-language PDF on the phone, with a timestamp and a session ID. Rule-based text today.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349240"/>
            <a:ext cx="11183112" cy="731520"/>
          </a:xfrm>
          <a:prstGeom prst="roundRect">
            <a:avLst>
              <a:gd name="adj" fmla="val 15000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5504688"/>
            <a:ext cx="411480" cy="4114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34440" y="5394960"/>
            <a:ext cx="103327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Plus a check the camera cannot do: the IR blaster fires a remote code at the AC. Android ConsumerIrManager is transmit-only, so the report records that the command was sent - closing the loop with a mic listen-back is the next step.</a:t>
            </a:r>
            <a:r>
              <a:rPr sz="1350" b="0" i="0">
                <a:solidFill>
                  <a:srgbClr val="F1EEFA"/>
                </a:solidFill>
                <a:latin typeface="Segoe U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144768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8D8AAB"/>
                </a:solidFill>
                <a:latin typeface="Segoe UI"/>
              </a:rPr>
              <a:t>Screens are representative mockups. The live demo runs the real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The 60-second walkthrough, in Airplane Mode, mirrored through Office Kit.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DEMO &amp; PRESENTATION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10%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05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2331720"/>
            <a:ext cx="10561320" cy="0"/>
          </a:xfrm>
          <a:prstGeom prst="line">
            <a:avLst/>
          </a:prstGeom>
          <a:ln w="2540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371600" y="210312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4142B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5A623"/>
                </a:solidFill>
                <a:latin typeface="Segoe UI"/>
              </a:rPr>
              <a:t>0:00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88920"/>
            <a:ext cx="2103120" cy="2971800"/>
          </a:xfrm>
          <a:prstGeom prst="roundRect">
            <a:avLst>
              <a:gd name="adj" fmla="val 6086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926080"/>
            <a:ext cx="365760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7280" y="2907792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Set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429000"/>
            <a:ext cx="18288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1EEFA"/>
                </a:solidFill>
                <a:latin typeface="Segoe UI"/>
              </a:rPr>
              <a:t>Point at the wall and press Set Baseline. Rotation-vector tracking records the pose; later captures report drift from it in degrees.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16636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A9A6C2"/>
                </a:solidFill>
                <a:latin typeface="Consolas"/>
              </a:rPr>
              <a:t>SensorManager · CameraX</a:t>
            </a:r>
          </a:p>
        </p:txBody>
      </p:sp>
      <p:sp>
        <p:nvSpPr>
          <p:cNvPr id="18" name="Oval 17"/>
          <p:cNvSpPr/>
          <p:nvPr/>
        </p:nvSpPr>
        <p:spPr>
          <a:xfrm>
            <a:off x="3630168" y="210312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0168" y="21031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4142B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16459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5A623"/>
                </a:solidFill>
                <a:latin typeface="Segoe UI"/>
              </a:rPr>
              <a:t>0:15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61488" y="2788920"/>
            <a:ext cx="2103120" cy="2971800"/>
          </a:xfrm>
          <a:prstGeom prst="roundRect">
            <a:avLst>
              <a:gd name="adj" fmla="val 6086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926080"/>
            <a:ext cx="365760" cy="3657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355848" y="2907792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Vision 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429000"/>
            <a:ext cx="18288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1EEFA"/>
                </a:solidFill>
                <a:latin typeface="Segoe UI"/>
              </a:rPr>
              <a:t>Point at the wall prop. Crack contour + area appear live. Severity: moderate.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16636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A9A6C2"/>
                </a:solidFill>
                <a:latin typeface="Consolas"/>
              </a:rPr>
              <a:t>CPU - YOLOv8n-Seg via PyTorch Lite</a:t>
            </a:r>
          </a:p>
        </p:txBody>
      </p:sp>
      <p:sp>
        <p:nvSpPr>
          <p:cNvPr id="26" name="Oval 25"/>
          <p:cNvSpPr/>
          <p:nvPr/>
        </p:nvSpPr>
        <p:spPr>
          <a:xfrm>
            <a:off x="5888736" y="210312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88736" y="21031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4142B"/>
                </a:solidFill>
                <a:latin typeface="Sego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0056" y="16459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5A623"/>
                </a:solidFill>
                <a:latin typeface="Segoe UI"/>
              </a:rPr>
              <a:t>0:30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0056" y="2788920"/>
            <a:ext cx="2103120" cy="2971800"/>
          </a:xfrm>
          <a:prstGeom prst="roundRect">
            <a:avLst>
              <a:gd name="adj" fmla="val 6086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2926080"/>
            <a:ext cx="365760" cy="3657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614416" y="2907792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Tap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3429000"/>
            <a:ext cx="18288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1EEFA"/>
                </a:solidFill>
                <a:latin typeface="Segoe UI"/>
              </a:rPr>
              <a:t>Knuckle-tap the tile board. The findings log prints HOLLOW with the model confidence and its cross-validated accuracy.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4648" y="516636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A9A6C2"/>
                </a:solidFill>
                <a:latin typeface="Consolas"/>
              </a:rPr>
              <a:t>Mic - AudioRecord - logistic regression</a:t>
            </a:r>
          </a:p>
        </p:txBody>
      </p:sp>
      <p:sp>
        <p:nvSpPr>
          <p:cNvPr id="34" name="Oval 33"/>
          <p:cNvSpPr/>
          <p:nvPr/>
        </p:nvSpPr>
        <p:spPr>
          <a:xfrm>
            <a:off x="8147304" y="210312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4" y="21031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4142B"/>
                </a:solidFill>
                <a:latin typeface="Segoe U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78624" y="16459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5A623"/>
                </a:solidFill>
                <a:latin typeface="Segoe UI"/>
              </a:rPr>
              <a:t>0:45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78624" y="2788920"/>
            <a:ext cx="2103120" cy="2971800"/>
          </a:xfrm>
          <a:prstGeom prst="roundRect">
            <a:avLst>
              <a:gd name="adj" fmla="val 6086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216" y="2926080"/>
            <a:ext cx="365760" cy="36576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872983" y="2907792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IR appliance check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3216" y="3429000"/>
            <a:ext cx="18288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1EEFA"/>
                </a:solidFill>
                <a:latin typeface="Segoe UI"/>
              </a:rPr>
              <a:t>Fire the code at the venue AC. Logged as transmitted: Android cannot receive IR, so this loop is open.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3216" y="516636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A9A6C2"/>
                </a:solidFill>
                <a:latin typeface="Consolas"/>
              </a:rPr>
              <a:t>ConsumerIrManager 38 kHz</a:t>
            </a:r>
          </a:p>
        </p:txBody>
      </p:sp>
      <p:sp>
        <p:nvSpPr>
          <p:cNvPr id="42" name="Oval 41"/>
          <p:cNvSpPr/>
          <p:nvPr/>
        </p:nvSpPr>
        <p:spPr>
          <a:xfrm>
            <a:off x="10405872" y="210312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05872" y="21031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4142B"/>
                </a:solidFill>
                <a:latin typeface="Segoe U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37192" y="16459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5A623"/>
                </a:solidFill>
                <a:latin typeface="Segoe UI"/>
              </a:rPr>
              <a:t>1:00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37192" y="2788920"/>
            <a:ext cx="2103120" cy="2971800"/>
          </a:xfrm>
          <a:prstGeom prst="roundRect">
            <a:avLst>
              <a:gd name="adj" fmla="val 6086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do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1784" y="2926080"/>
            <a:ext cx="365760" cy="36576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131552" y="2907792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Signed report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01784" y="3429000"/>
            <a:ext cx="18288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1EEFA"/>
                </a:solidFill>
                <a:latin typeface="Segoe UI"/>
              </a:rPr>
              <a:t>Tap Generate. The findings render to a PDF on the phone in under a second, mirrored to the laptop through Office Kit.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01784" y="516636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A9A6C2"/>
                </a:solidFill>
                <a:latin typeface="Consolas"/>
              </a:rPr>
              <a:t>Room DB - PdfDocument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A9A6C2"/>
                </a:solidFill>
                <a:latin typeface="Segoe UI"/>
              </a:rPr>
              <a:t>Backup: a screen recording of the same flow sits on the phone in case the venue AC has no IR receiver line-of-sight.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ON-DEVICE MODEL 1: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</a:rPr>
              <a:t>Cracks become square feet, not opinions.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TECHNICAL DEPTH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15%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06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2011680" cy="4187952"/>
          </a:xfrm>
          <a:prstGeom prst="roundRect">
            <a:avLst>
              <a:gd name="adj" fmla="val 20454"/>
            </a:avLst>
          </a:prstGeom>
          <a:solidFill>
            <a:srgbClr val="0B0B1A"/>
          </a:solidFill>
          <a:ln w="15875">
            <a:solidFill>
              <a:srgbClr val="4A4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_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73352"/>
            <a:ext cx="1865376" cy="4041648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1554480" y="1728216"/>
            <a:ext cx="91440" cy="91440"/>
          </a:xfrm>
          <a:prstGeom prst="ellipse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16459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5A623"/>
                </a:solidFill>
                <a:latin typeface="Segoe UI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618488"/>
            <a:ext cx="41605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1EEFA"/>
                </a:solidFill>
                <a:latin typeface="Segoe UI"/>
              </a:rPr>
              <a:t>YOLOv8n-Seg fine-tuned on 2,106 labelled defect images (1,796 train / 203 val / 107 test), merged from four CC BY 4.0 Roboflow datasets. Classes: crack, peeling, spalling, stain_mould.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578608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5A623"/>
                </a:solidFill>
                <a:latin typeface="Segoe UI"/>
              </a:rPr>
              <a:t>DEPLOY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551176"/>
            <a:ext cx="41605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1EEFA"/>
                </a:solidFill>
                <a:latin typeface="Segoe UI"/>
              </a:rPr>
              <a:t>torch.export -&gt; PT2E quantise (QnnQuantizer 8a8w) -&gt; ExecuTorch lower -&gt; .pte, compiled and in the repo under qnn_android_bundle/. Not yet wired into the APK: the shipping app runs the model on the CPU via PyTorch Lite.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511296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5A623"/>
                </a:solidFill>
                <a:latin typeface="Segoe UI"/>
              </a:rPr>
              <a:t>MEASURE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483864"/>
            <a:ext cx="41605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1EEFA"/>
                </a:solidFill>
                <a:latin typeface="Segoe UI"/>
              </a:rPr>
              <a:t>Area is reported as the share of the frame the mask covers. There is no depth sensor and no camera-intrinsics read on device, so this is not yet a physical measurement - the pinhole conversion exists in the Python pipeline only.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4443984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5A623"/>
                </a:solidFill>
                <a:latin typeface="Segoe UI"/>
              </a:rP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416552"/>
            <a:ext cx="41605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1EEFA"/>
                </a:solidFill>
                <a:latin typeface="Segoe UI"/>
              </a:rPr>
              <a:t>Detections below 0.25 confidence are discarded. Every surviving detection is shown with its confidence and labelled with the segmenter that produced it.</a:t>
            </a:r>
          </a:p>
        </p:txBody>
      </p:sp>
      <p:pic>
        <p:nvPicPr>
          <p:cNvPr id="20" name="Picture 19" descr="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645920"/>
            <a:ext cx="3319272" cy="15702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366760" y="3520440"/>
            <a:ext cx="3319272" cy="2514600"/>
          </a:xfrm>
          <a:prstGeom prst="roundRect">
            <a:avLst>
              <a:gd name="adj" fmla="val 5090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66760" y="3630168"/>
            <a:ext cx="54864" cy="229514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3648456"/>
            <a:ext cx="2907791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Honest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4105656"/>
            <a:ext cx="2907792" cy="19293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A9A6C2"/>
                </a:solidFill>
                <a:latin typeface="Segoe UI"/>
              </a:rPr>
              <a:t>Honest status: the trained 4-class segmenter ships in the APK and runs on the CPU; a colour heuristic is the labelled fallback if it fails to load. No validation run is recorded yet, and the splits share video frames across train/val/test, so any mAP we quoted would be inflated.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ON-DEVICE MODEL 2: ACOUSTICS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</a:rPr>
              <a:t>Tap a tile. The phone hears what a surveyor's hammer would.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CREATIVE PHONE USE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15%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07 / 17</a:t>
            </a:r>
          </a:p>
        </p:txBody>
      </p:sp>
      <p:pic>
        <p:nvPicPr>
          <p:cNvPr id="9" name="Picture 8" descr="tap_spect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6766560" cy="37848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164592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5A623"/>
                </a:solidFill>
                <a:latin typeface="Segoe UI"/>
              </a:rPr>
              <a:t>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618488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A button press opens AudioRecord at 44.1 kHz for 1.2 s; the tap is located by peak envelope. No always-on listener - the Qualcomm Sensing Hub audio path is not reachable from a third-party app.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670048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5A623"/>
                </a:solidFill>
                <a:latin typeface="Segoe UI"/>
              </a:rP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642616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250 ms crop, resampled to 22.05 kHz, peak-normalised. 40-band log-Mel -&gt; 13 MFCCs -&gt; 36 features: MFCC mean/std, spectral moments, ZCR, decay time, band ratios.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694176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5A623"/>
                </a:solidFill>
                <a:latin typeface="Segoe UI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666744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Logistic regression over those 36 features - 36 multiply-adds on the CPU. Ships as a 73 KB JSON carrying the mel filterbank and DCT basis, so Kotlin cannot drift from the Python trainer.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718304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5A623"/>
                </a:solidFill>
                <a:latin typeface="Segoe UI"/>
              </a:rPr>
              <a:t>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690872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The deterministic decay heuristic already shipping in the app classifies every tap even if the CNN is unavailable.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32120"/>
            <a:ext cx="6766560" cy="566928"/>
          </a:xfrm>
          <a:prstGeom prst="roundRect">
            <a:avLst>
              <a:gd name="adj" fmla="val 16129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658368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A9A6C2"/>
                </a:solidFill>
                <a:latin typeface="Segoe UI"/>
              </a:rPr>
              <a:t>Training set: 15 taps from 8 recordings. Grouped leave-one-recording-out accuracy 80% (95% CI 62-96%) against a 53% majority baseline. Small - and we report the cross-validated figure with its interval, never the training score.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576072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A9A6C2"/>
                </a:solidFill>
                <a:latin typeface="Segoe UI"/>
              </a:rPr>
              <a:t>The verdict, its confidence and the model cross-validated accuracy are all printed in the findings log.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Every byte stays on the phone: sensors, on-device models, local database, offline PDF.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TECHNICAL DEPTH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15%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08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183112" cy="566928"/>
          </a:xfrm>
          <a:prstGeom prst="roundRect">
            <a:avLst>
              <a:gd name="adj" fmla="val 16129"/>
            </a:avLst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274320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INPUT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554480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Sony IMX921 50 MP + OIS · ultrawide · periscope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554480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Stereo mics · 44.1 kHz PCM · AudioRecord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4576" y="1554480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IR blaster 38 kHz · ConsumerIrManager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0304" y="1554480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Rotation vector (TYPE_ROTATION_VECTOR)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011680" y="2194560"/>
            <a:ext cx="329184" cy="274320"/>
          </a:xfrm>
          <a:prstGeom prst="downArrow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5760720" y="2194560"/>
            <a:ext cx="329184" cy="274320"/>
          </a:xfrm>
          <a:prstGeom prst="downArrow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9509759" y="2194560"/>
            <a:ext cx="329184" cy="274320"/>
          </a:xfrm>
          <a:prstGeom prst="downArrow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256032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670048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69848" y="265176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5A623"/>
                </a:solidFill>
                <a:latin typeface="Segoe UI"/>
              </a:rPr>
              <a:t>HOST CPU -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3035808"/>
            <a:ext cx="33375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- YOLOv8n-Seg, 4-class, via PyTorch Lite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- Tap classifier: 36-feature logistic regression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- ExecuTorch INT8 .pte compiled and in repo; HTP integration not yet in the APK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256032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3" y="2670048"/>
            <a:ext cx="329184" cy="3291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46320" y="265176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5A623"/>
                </a:solidFill>
                <a:latin typeface="Segoe UI"/>
              </a:rPr>
              <a:t>HOST CPU -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3" y="3035808"/>
            <a:ext cx="33375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- NMS - mask assembly - area as % of frame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• RMS spike  → 150 ms crop  → log-Mel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- PDF render - Room DB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5864" y="256032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2670048"/>
            <a:ext cx="329184" cy="3291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22792" y="265176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5A623"/>
                </a:solidFill>
                <a:latin typeface="Segoe UI"/>
              </a:rPr>
              <a:t>IR STATE MACHINE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3035808"/>
            <a:ext cx="33375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• Capture (receiver or library)  → store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- Replay at 38 kHz (Android has no IR receive path)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• Voltas · Blue Star · LG · Daikin fallback codes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5943600" y="4315968"/>
            <a:ext cx="329184" cy="274320"/>
          </a:xfrm>
          <a:prstGeom prst="downArrow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377440" y="4645152"/>
            <a:ext cx="7406640" cy="502920"/>
          </a:xfrm>
          <a:prstGeom prst="roundRect">
            <a:avLst>
              <a:gd name="adj" fmla="val 18181"/>
            </a:avLst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0" y="4645152"/>
            <a:ext cx="74066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DIAGNOSTIC SYNTHESIS  ·  defect areas + tap verdicts + appliance state + OCR of meter/nameplate  →  one structured JSON record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5943600" y="5193792"/>
            <a:ext cx="329184" cy="237744"/>
          </a:xfrm>
          <a:prstGeom prst="downArrow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377440" y="5468112"/>
            <a:ext cx="7406640" cy="658368"/>
          </a:xfrm>
          <a:prstGeom prst="roundRect">
            <a:avLst>
              <a:gd name="adj" fmla="val 13888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14600" y="5468112"/>
            <a:ext cx="7132320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4142B"/>
                </a:solidFill>
                <a:latin typeface="Segoe UI"/>
              </a:rPr>
              <a:t>OUTPUT   Offline PDF: timestamp + session ID, rendered on the phone. No cloud call at any stage, and no INTERNET permission in the manifest.</a:t>
            </a:r>
            <a:r>
              <a:rPr sz="1050" b="0" i="0">
                <a:solidFill>
                  <a:srgbClr val="14142B"/>
                </a:solidFill>
                <a:latin typeface="Segoe UI"/>
              </a:rPr>
              <a:t/>
            </a:r>
          </a:p>
        </p:txBody>
      </p:sp>
      <p:pic>
        <p:nvPicPr>
          <p:cNvPr id="36" name="Picture 35" descr="off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4892040"/>
            <a:ext cx="640080" cy="6400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921240" y="5577840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D64545"/>
                </a:solidFill>
                <a:latin typeface="Segoe UI"/>
              </a:rPr>
              <a:t>NO NETWORK
PERMISSION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PHONE-FIRST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</a:rPr>
              <a:t>Built for the iQOO 15, not just running on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CREATIVE PHONE USE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15%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09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3108960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600200"/>
            <a:ext cx="2962656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iQOO 15 hardware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600200"/>
            <a:ext cx="2834640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1600200"/>
            <a:ext cx="2688336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Verified spec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600200"/>
            <a:ext cx="5239512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600200"/>
            <a:ext cx="509320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Exact job in SmartLease Edge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984248"/>
            <a:ext cx="3108960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1984248"/>
            <a:ext cx="296265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Snapdragon 8 Elite Gen 5 · Hexagon NPU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1984248"/>
            <a:ext cx="2834640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85032" y="1984248"/>
            <a:ext cx="268833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37% faster NPU, INT4/INT8/FP16, Sensing Hub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1984248"/>
            <a:ext cx="5239512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1984248"/>
            <a:ext cx="5093208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Headroom for the models, not yet used: all three run on the CPU today. The ExecuTorch INT8 lowering is compiled and in the repo.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587752"/>
            <a:ext cx="3108960" cy="713232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587752"/>
            <a:ext cx="2962656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Triple 50 MP: IMX921 OIS + ultrawide + periscope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2587752"/>
            <a:ext cx="2834640" cy="713232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85032" y="2587752"/>
            <a:ext cx="2688336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CIPA 4.5 OIS, 100× digital zoom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587752"/>
            <a:ext cx="5239512" cy="713232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2587752"/>
            <a:ext cx="5093208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OIS steadies handheld capture; ultrawide frames a full wall; telephoto reaches a high-ceiling crack. No AR overlay is rendered yet.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300984"/>
            <a:ext cx="3108960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3300984"/>
            <a:ext cx="296265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IR blaster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1880" y="3300984"/>
            <a:ext cx="2834640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85032" y="3300984"/>
            <a:ext cx="268833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38 kHz carrier via ConsumerIrManager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300984"/>
            <a:ext cx="5239512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9672" y="3300984"/>
            <a:ext cx="5093208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Fires an AC, geyser or TV remote code. Android cannot receive IR, so this records that the command was sent, not that the unit responded.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904488"/>
            <a:ext cx="3108960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3904488"/>
            <a:ext cx="296265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Stereo mics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1880" y="3904488"/>
            <a:ext cx="2834640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85032" y="3904488"/>
            <a:ext cx="268833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Dual mic array, 44.1 kHz PCM capture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3904488"/>
            <a:ext cx="5239512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9672" y="3904488"/>
            <a:ext cx="5093208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Captures the knuckle-tap transient for the hollow/solid classifier. Not always-on: the Sensing Hub audio path has no third-party API.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507992"/>
            <a:ext cx="3108960" cy="54864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" y="4507992"/>
            <a:ext cx="2962656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6000-nit 2K LTPO display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11880" y="4507992"/>
            <a:ext cx="2834640" cy="54864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85032" y="4507992"/>
            <a:ext cx="2688336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Peak brightness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6520" y="4507992"/>
            <a:ext cx="5239512" cy="54864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9672" y="4507992"/>
            <a:ext cx="509320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Keeps the camera preview and the findings log legible in a sunlit Chennai flat at 2 pm.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056632"/>
            <a:ext cx="3108960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5056632"/>
            <a:ext cx="296265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7000 mAh + 8K vapor chamber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11880" y="5056632"/>
            <a:ext cx="2834640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85032" y="5056632"/>
            <a:ext cx="268833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Sustained load without throttling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46520" y="5056632"/>
            <a:ext cx="5239512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9672" y="5056632"/>
            <a:ext cx="5093208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Twenty-room walkthrough on one charge without the inference slowing down mid-demo.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5852160"/>
            <a:ext cx="11155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A9A6C2"/>
                </a:solidFill>
                <a:latin typeface="Segoe UI"/>
              </a:rPr>
              <a:t>Not targeted: the vivo Q3 co-processor has no public SDK, so we say so if asked. Office Kit mirrors the phone to the projector during the pitch.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ON-DEVICE MODELS AND THE RED LIGHT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Three models, each with a fallback that still demos, and a phone-only build plan.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OFFICE KIT USAGE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10%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10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2103120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600200"/>
            <a:ext cx="1956815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39" y="1600200"/>
            <a:ext cx="2286000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9191" y="1600200"/>
            <a:ext cx="2139696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600200"/>
            <a:ext cx="914400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5192" y="1600200"/>
            <a:ext cx="768096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1600200"/>
            <a:ext cx="2194560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9592" y="1600200"/>
            <a:ext cx="2048255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Runtime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600200"/>
            <a:ext cx="1097280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4152" y="1600200"/>
            <a:ext cx="950976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Latency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600200"/>
            <a:ext cx="2587752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1432" y="1600200"/>
            <a:ext cx="24414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If it fails on stage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1984248"/>
            <a:ext cx="210312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984248"/>
            <a:ext cx="1956815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Wall-defect segmenter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39" y="1984248"/>
            <a:ext cx="228600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9191" y="1984248"/>
            <a:ext cx="21396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YOLOv8n-Seg, INT8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1984248"/>
            <a:ext cx="91440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5192" y="1984248"/>
            <a:ext cx="7680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~6 MB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1984248"/>
            <a:ext cx="219456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79592" y="1984248"/>
            <a:ext cx="2048255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PyTorch Lite (CPU)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1984248"/>
            <a:ext cx="109728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4152" y="1984248"/>
            <a:ext cx="95097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not measured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1984248"/>
            <a:ext cx="2587752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71432" y="1984248"/>
            <a:ext cx="2441448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Labelled colour heuristic segmenter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551176"/>
            <a:ext cx="210312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2551176"/>
            <a:ext cx="1956815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Tap classifier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06039" y="2551176"/>
            <a:ext cx="228600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79191" y="2551176"/>
            <a:ext cx="21396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Logistic regression, 36 features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2551176"/>
            <a:ext cx="91440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65192" y="2551176"/>
            <a:ext cx="7680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73 KB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06440" y="2551176"/>
            <a:ext cx="219456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79592" y="2551176"/>
            <a:ext cx="2048255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Pure Kotlin (CPU)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1000" y="2551176"/>
            <a:ext cx="109728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4152" y="2551176"/>
            <a:ext cx="95097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not measured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8280" y="2551176"/>
            <a:ext cx="2587752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71432" y="2551176"/>
            <a:ext cx="2441448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Decay-time heuristic already in app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3118104"/>
            <a:ext cx="210312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3118104"/>
            <a:ext cx="1956815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Report writer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06039" y="3118104"/>
            <a:ext cx="228600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79191" y="3118104"/>
            <a:ext cx="21396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Rule-based template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92040" y="3118104"/>
            <a:ext cx="91440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65192" y="3118104"/>
            <a:ext cx="7680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n/a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06440" y="3118104"/>
            <a:ext cx="219456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79592" y="3118104"/>
            <a:ext cx="2048255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Kotlin (CPU)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01000" y="3118104"/>
            <a:ext cx="109728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74152" y="3118104"/>
            <a:ext cx="95097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instant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98280" y="3118104"/>
            <a:ext cx="2587752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71432" y="3118104"/>
            <a:ext cx="2441448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n/a - already deterministic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3794760"/>
            <a:ext cx="11155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RED LIGHT / GREEN LIGHT: WHAT HAPPENS ON THE PHONE ALONE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4114800"/>
            <a:ext cx="3657600" cy="1965960"/>
          </a:xfrm>
          <a:prstGeom prst="roundRect">
            <a:avLst>
              <a:gd name="adj" fmla="val 6511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02920" y="4224528"/>
            <a:ext cx="54864" cy="1746504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4242816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Red Light (~10.5 h, phone only)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4700016"/>
            <a:ext cx="3246120" cy="13807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A9A6C2"/>
                </a:solidFill>
                <a:latin typeface="Segoe UI"/>
              </a:rPr>
              <a:t>On-device data capture of venue walls and tiles - threshold tuning - latency runs - IR capture of the venue AC. Driven from the laptop through Office Kit remote control and shared clipboard.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70248" y="4114800"/>
            <a:ext cx="3657600" cy="1965960"/>
          </a:xfrm>
          <a:prstGeom prst="roundRect">
            <a:avLst>
              <a:gd name="adj" fmla="val 6511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270248" y="4224528"/>
            <a:ext cx="54864" cy="174650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44568" y="4242816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Green Light (~8.5 h, both devices)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44568" y="4700016"/>
            <a:ext cx="3246120" cy="13807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A9A6C2"/>
                </a:solidFill>
                <a:latin typeface="Segoe UI"/>
              </a:rPr>
              <a:t>Model export and quantisation · Gradle builds · debugging · overnight polish. APK drag-dropped to the phone with Office Kit file transfer.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28431" y="4114800"/>
            <a:ext cx="3657600" cy="1965960"/>
          </a:xfrm>
          <a:prstGeom prst="roundRect">
            <a:avLst>
              <a:gd name="adj" fmla="val 6511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028431" y="4224528"/>
            <a:ext cx="54864" cy="174650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02752" y="4242816"/>
            <a:ext cx="324611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Office Kit in the pitch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02752" y="4700016"/>
            <a:ext cx="3246120" cy="13807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A9A6C2"/>
                </a:solidFill>
                <a:latin typeface="Segoe UI"/>
              </a:rPr>
              <a:t>Screen mirror to the projector for the live demo · the generated PDF lands on the laptop by file transfer · clipboard sync for the session ID. Practised before Sep 12.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AI inspection apps exist. None run offline, and none test whether things actually 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NOVELTY &amp; IMPACT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20%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11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2743200" cy="56692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600200"/>
            <a:ext cx="25968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600200"/>
            <a:ext cx="1371600" cy="56692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1600200"/>
            <a:ext cx="12252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Offline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600200"/>
            <a:ext cx="1737360" cy="56692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600200"/>
            <a:ext cx="159105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Functional test
(IR / acoustic)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79" y="1600200"/>
            <a:ext cx="1554480" cy="56692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600200"/>
            <a:ext cx="140817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Defect area
in sq 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59" y="1600200"/>
            <a:ext cx="1463040" cy="56692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2711" y="1600200"/>
            <a:ext cx="131673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On-device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72599" y="1600200"/>
            <a:ext cx="2313432" cy="56692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45751" y="1600200"/>
            <a:ext cx="2167127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Price for one lease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167128"/>
            <a:ext cx="274320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167128"/>
            <a:ext cx="25968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NoBroker inspection (India)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2167128"/>
            <a:ext cx="137160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94759" y="2313432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2276856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2167128"/>
            <a:ext cx="173736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349240" y="2313432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0" y="2276856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79" y="2167128"/>
            <a:ext cx="155448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995159" y="2313432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39" y="2276856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9559" y="2167128"/>
            <a:ext cx="146304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03919" y="2221992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199" y="2185416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59" y="251460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A9A6C2"/>
                </a:solidFill>
                <a:latin typeface="Segoe UI"/>
              </a:rPr>
              <a:t>human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72599" y="2167128"/>
            <a:ext cx="2313432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45751" y="2167128"/>
            <a:ext cx="2167127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1EEFA"/>
                </a:solidFill>
                <a:latin typeface="Segoe UI"/>
              </a:rPr>
              <a:t>₹1,649–5,999 + scheduling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734056"/>
            <a:ext cx="274320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" y="2734056"/>
            <a:ext cx="25968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TurboTenant (US)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6120" y="2734056"/>
            <a:ext cx="137160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94759" y="2880360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39" y="2843784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17720" y="2734056"/>
            <a:ext cx="173736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349240" y="2880360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0" y="2843784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79" y="2734056"/>
            <a:ext cx="155448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95159" y="2880360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39" y="2843784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09559" y="2734056"/>
            <a:ext cx="146304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503919" y="2880360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58199" y="2843784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72599" y="2734056"/>
            <a:ext cx="2313432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45751" y="2734056"/>
            <a:ext cx="2167127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1EEFA"/>
                </a:solidFill>
                <a:latin typeface="Segoe UI"/>
              </a:rPr>
              <a:t>Free, manual photos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3300984"/>
            <a:ext cx="274320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6072" y="3300984"/>
            <a:ext cx="25968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zInspector + zAssistant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46120" y="3300984"/>
            <a:ext cx="137160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794759" y="3447288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49039" y="3410712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17720" y="3300984"/>
            <a:ext cx="173736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349240" y="3447288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03520" y="3410712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55079" y="3300984"/>
            <a:ext cx="155448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95159" y="3447288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49439" y="3410712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09559" y="3300984"/>
            <a:ext cx="146304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03919" y="3355848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58199" y="3319272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09559" y="3648456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A9A6C2"/>
                </a:solidFill>
                <a:latin typeface="Segoe UI"/>
              </a:rPr>
              <a:t>cloud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372599" y="3300984"/>
            <a:ext cx="2313432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445751" y="3300984"/>
            <a:ext cx="2167127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1EEFA"/>
                </a:solidFill>
                <a:latin typeface="Segoe UI"/>
              </a:rPr>
              <a:t>$0–115/mo per portfolio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3867912"/>
            <a:ext cx="274320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6072" y="3867912"/>
            <a:ext cx="25968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RentCheck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46120" y="3867912"/>
            <a:ext cx="137160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794759" y="4014215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749039" y="3977639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17720" y="3867912"/>
            <a:ext cx="173736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349240" y="4014215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03520" y="3977639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55079" y="3867912"/>
            <a:ext cx="155448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995159" y="4014215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949439" y="3977639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909559" y="3867912"/>
            <a:ext cx="1463040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03919" y="3922776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58199" y="3886200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09559" y="4215383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A9A6C2"/>
                </a:solidFill>
                <a:latin typeface="Segoe UI"/>
              </a:rPr>
              <a:t>cloud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372599" y="3867912"/>
            <a:ext cx="2313432" cy="566928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45751" y="3867912"/>
            <a:ext cx="2167127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1EEFA"/>
                </a:solidFill>
                <a:latin typeface="Segoe UI"/>
              </a:rPr>
              <a:t>$0.60–1.10/unit/mo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2920" y="4434840"/>
            <a:ext cx="274320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76072" y="4434840"/>
            <a:ext cx="259689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ClaimSnap (insurance)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46120" y="4434840"/>
            <a:ext cx="137160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794759" y="4581144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749039" y="4544568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617720" y="4434840"/>
            <a:ext cx="173736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349240" y="4581144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303520" y="4544568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355079" y="4434840"/>
            <a:ext cx="155448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995159" y="4489704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949439" y="4453128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~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55079" y="4782312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A9A6C2"/>
                </a:solidFill>
                <a:latin typeface="Segoe UI"/>
              </a:rPr>
              <a:t>estimate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909559" y="4434840"/>
            <a:ext cx="1463040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503919" y="4489704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458199" y="4453128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909559" y="4782312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A9A6C2"/>
                </a:solidFill>
                <a:latin typeface="Segoe UI"/>
              </a:rPr>
              <a:t>cloud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372599" y="4434840"/>
            <a:ext cx="2313432" cy="566928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445751" y="4434840"/>
            <a:ext cx="2167127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1EEFA"/>
                </a:solidFill>
                <a:latin typeface="Segoe UI"/>
              </a:rPr>
              <a:t>Not published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2920" y="5001768"/>
            <a:ext cx="2743200" cy="640080"/>
          </a:xfrm>
          <a:prstGeom prst="rect">
            <a:avLst/>
          </a:prstGeom>
          <a:solidFill>
            <a:srgbClr val="1F3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76072" y="5001768"/>
            <a:ext cx="2596896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SmartLease Edge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46120" y="5001768"/>
            <a:ext cx="1371600" cy="640080"/>
          </a:xfrm>
          <a:prstGeom prst="rect">
            <a:avLst/>
          </a:prstGeom>
          <a:solidFill>
            <a:srgbClr val="1F3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794759" y="5184648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749039" y="5148072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17720" y="5001768"/>
            <a:ext cx="1737360" cy="640080"/>
          </a:xfrm>
          <a:prstGeom prst="rect">
            <a:avLst/>
          </a:prstGeom>
          <a:solidFill>
            <a:srgbClr val="1F3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349240" y="5184648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303520" y="5148072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355079" y="5001768"/>
            <a:ext cx="1554480" cy="640080"/>
          </a:xfrm>
          <a:prstGeom prst="rect">
            <a:avLst/>
          </a:prstGeom>
          <a:solidFill>
            <a:srgbClr val="1F3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995159" y="5184648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949439" y="5148072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909559" y="5001768"/>
            <a:ext cx="1463040" cy="640080"/>
          </a:xfrm>
          <a:prstGeom prst="rect">
            <a:avLst/>
          </a:prstGeom>
          <a:solidFill>
            <a:srgbClr val="1F3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503919" y="5093208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458199" y="5056632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909559" y="5385816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A9A6C2"/>
                </a:solidFill>
                <a:latin typeface="Segoe UI"/>
              </a:rPr>
              <a:t>NPU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372599" y="5001768"/>
            <a:ext cx="2313432" cy="640080"/>
          </a:xfrm>
          <a:prstGeom prst="rect">
            <a:avLst/>
          </a:prstGeom>
          <a:solidFill>
            <a:srgbClr val="1F3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445751" y="5001768"/>
            <a:ext cx="2167127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Free + ₹299–499 per signed report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A9A6C2"/>
                </a:solidFill>
                <a:latin typeface="Segoe UI"/>
              </a:rPr>
              <a:t>Precise novelty claim: fully offline, on-device AI with functional diagnostic testing, priced for a single lease event. Cross-checked against five real products; 'AI property inspection' alone is not new and we never claim it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WORKING MVP, HONESTLY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What runs today, what ships by Sep 12, and what happens live at the 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END PRODUCT QUALITY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30%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12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3611880" cy="3749039"/>
          </a:xfrm>
          <a:prstGeom prst="roundRect">
            <a:avLst>
              <a:gd name="adj" fmla="val 3544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3611880" cy="457200"/>
          </a:xfrm>
          <a:prstGeom prst="roundRect">
            <a:avLst>
              <a:gd name="adj" fmla="val 28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611880" cy="2286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0020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142B"/>
                </a:solidFill>
                <a:latin typeface="Segoe UI"/>
              </a:rPr>
              <a:t>Real and running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94560"/>
            <a:ext cx="3291840" cy="3108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CameraX capture + preview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AR baseline alignment (SensorManager + OIS)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ML Kit OCR of meters and nameplates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IR transmit via ConsumerIrManager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Acoustic tap heuristic (AudioRecord + FFT)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Deterministic safety gate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Room DB + offline PDF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600200"/>
            <a:ext cx="3611880" cy="3749039"/>
          </a:xfrm>
          <a:prstGeom prst="roundRect">
            <a:avLst>
              <a:gd name="adj" fmla="val 3544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79392" y="1600200"/>
            <a:ext cx="3611880" cy="457200"/>
          </a:xfrm>
          <a:prstGeom prst="roundRect">
            <a:avLst>
              <a:gd name="adj" fmla="val 28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828800"/>
            <a:ext cx="3611880" cy="228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160020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142B"/>
                </a:solidFill>
                <a:latin typeface="Segoe UI"/>
              </a:rPr>
              <a:t>Shipped before the battle - and what did not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194560"/>
            <a:ext cx="3291840" cy="3108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YOLOv8n-Seg fine-tune on 2,106 images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ExecuTorch INT8 export   ·   NEXT: HTP test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Tap classifier trained (15 taps, 8 recordings)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NEXT:  GenieX Llama 3.2 3B narrative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NEXT:  SHA-256 fingerprint + dual signature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Office Kit rehearsal, 3 timed runs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5864" y="1600200"/>
            <a:ext cx="3611880" cy="3749039"/>
          </a:xfrm>
          <a:prstGeom prst="roundRect">
            <a:avLst>
              <a:gd name="adj" fmla="val 3544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55864" y="1600200"/>
            <a:ext cx="3611880" cy="457200"/>
          </a:xfrm>
          <a:prstGeom prst="roundRect">
            <a:avLst>
              <a:gd name="adj" fmla="val 2800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55864" y="1828800"/>
            <a:ext cx="3611880" cy="2286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160020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Live at the venue (Sep 12–13)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2194560"/>
            <a:ext cx="3291840" cy="3108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08:00 capture the real AC's IR code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Round-1 vertical slice by Sat 19:00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Tune thresholds to venue light and acoustics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Overnight: fix, do not add features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Sun 09:00 airplane-mode end-to-end run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1EEFA"/>
                </a:solidFill>
                <a:latin typeface="Segoe UI"/>
              </a:rPr>
              <a:t>✓  13:45 final pitch, one flow, one aha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32120"/>
            <a:ext cx="11183112" cy="566928"/>
          </a:xfrm>
          <a:prstGeom prst="roundRect">
            <a:avLst>
              <a:gd name="adj" fmla="val 16129"/>
            </a:avLst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532120"/>
            <a:ext cx="108813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The two hard models are trained before the event so the 30 hours go to integration and polish, not first-time R&amp;D. If a model is not reliable by Day 8, the shipping heuristic is the deliberate fallback.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778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IMPACT AND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7782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One engine, four products, priced for one lease instead of a portfolio.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4312" y="411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3224A"/>
          </a:solidFill>
          <a:ln w="12700">
            <a:solidFill>
              <a:srgbClr val="3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4312" y="411480"/>
            <a:ext cx="2331720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A9A6C2"/>
                </a:solidFill>
                <a:latin typeface="Segoe UI"/>
              </a:rPr>
              <a:t>SCORES  </a:t>
            </a:r>
            <a:r>
              <a:rPr sz="950" b="1" i="0">
                <a:solidFill>
                  <a:srgbClr val="F5A623"/>
                </a:solidFill>
                <a:latin typeface="Segoe UI"/>
              </a:rPr>
              <a:t>NOVELTY &amp; IMPACT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20%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13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3566160" cy="2148840"/>
          </a:xfrm>
          <a:prstGeom prst="roundRect">
            <a:avLst>
              <a:gd name="adj" fmla="val 5957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746504"/>
            <a:ext cx="347472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1288" y="1728216"/>
            <a:ext cx="277063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Who it serves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185415"/>
            <a:ext cx="3227832" cy="1563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A9A6C2"/>
                </a:solidFill>
                <a:latin typeface="Segoe UI"/>
              </a:rPr>
              <a:t>Tenants keep deposits with timestamped evidence. Landlords document damage before it becomes a dispute. PG and co-living operators inspect 50+ rooms a day without a surveyor. Works in Tier-2/3 cities where the cloud apps do not.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600200"/>
            <a:ext cx="3566160" cy="2148840"/>
          </a:xfrm>
          <a:prstGeom prst="roundRect">
            <a:avLst>
              <a:gd name="adj" fmla="val 5957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up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1746504"/>
            <a:ext cx="347472" cy="3474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74336" y="1728216"/>
            <a:ext cx="277063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Priced for one move-out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185415"/>
            <a:ext cx="3227832" cy="1563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A9A6C2"/>
                </a:solidFill>
                <a:latin typeface="Segoe UI"/>
              </a:rPr>
              <a:t>Free baseline capture. ₹299–499 for the full diagnostic plus signed report, 5–10× cheaper than a ₹1,649–5,999 human inspection and available on demand. No subscription for a once-a-year event.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600200"/>
            <a:ext cx="3566160" cy="2148840"/>
          </a:xfrm>
          <a:prstGeom prst="roundRect">
            <a:avLst>
              <a:gd name="adj" fmla="val 5957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746504"/>
            <a:ext cx="347472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78240" y="1728216"/>
            <a:ext cx="2770631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Scales without new engines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85415"/>
            <a:ext cx="3227832" cy="1563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A9A6C2"/>
                </a:solidFill>
                <a:latin typeface="Segoe UI"/>
              </a:rPr>
              <a:t>New defect class = 200 labelled images, same pipeline. Runs on any recent Android phone on the CPU; the IR blaster is the iQOO-specific part.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977639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ROADMAP: SAME VERIFICATION ENGINE, HIGHER FREQUENCY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43400"/>
            <a:ext cx="2697480" cy="1737360"/>
          </a:xfrm>
          <a:prstGeom prst="roundRect">
            <a:avLst>
              <a:gd name="adj" fmla="val 6315"/>
            </a:avLst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407408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F5A623"/>
                </a:solidFill>
                <a:latin typeface="Segoe UI"/>
              </a:rPr>
              <a:t>Phase 0 · Sep 12–13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6344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Move-Out 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66360"/>
            <a:ext cx="246888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The hackathon MVP. Once per lease.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218688" y="5074920"/>
            <a:ext cx="128016" cy="274320"/>
          </a:xfrm>
          <a:prstGeom prst="rightArrow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37560" y="4343400"/>
            <a:ext cx="2697480" cy="1737360"/>
          </a:xfrm>
          <a:prstGeom prst="roundRect">
            <a:avLst>
              <a:gd name="adj" fmla="val 6315"/>
            </a:avLst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4407408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F5A623"/>
                </a:solidFill>
                <a:latin typeface="Segoe UI"/>
              </a:rPr>
              <a:t>Phase 1 · 2–4 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66344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Maintenance Mode + Insurance Assist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5166360"/>
            <a:ext cx="246888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Quarterly appliance health checks; claim-ready docs with functional proof. ₹99–149/mo.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053328" y="5074920"/>
            <a:ext cx="128016" cy="274320"/>
          </a:xfrm>
          <a:prstGeom prst="rightArrow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72200" y="4343400"/>
            <a:ext cx="2697480" cy="1737360"/>
          </a:xfrm>
          <a:prstGeom prst="roundRect">
            <a:avLst>
              <a:gd name="adj" fmla="val 6315"/>
            </a:avLst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407408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F5A623"/>
                </a:solidFill>
                <a:latin typeface="Segoe UI"/>
              </a:rPr>
              <a:t>Phase 2 · 4–8 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66344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Buyer's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166360"/>
            <a:ext cx="246888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Self-service pre-purchase inspection at ₹499–999 vs ₹10,000+ professional.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887968" y="5074920"/>
            <a:ext cx="128016" cy="274320"/>
          </a:xfrm>
          <a:prstGeom prst="rightArrow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006840" y="4343400"/>
            <a:ext cx="2697480" cy="1737360"/>
          </a:xfrm>
          <a:prstGeom prst="roundRect">
            <a:avLst>
              <a:gd name="adj" fmla="val 6315"/>
            </a:avLst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4407408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F5A623"/>
                </a:solidFill>
                <a:latin typeface="Segoe UI"/>
              </a:rPr>
              <a:t>Phase 3 · 6–12 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66344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B2B2C licensing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5166360"/>
            <a:ext cx="246888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Per-unit licences for co-living operators and property managers; rental platforms embed the engine.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TEAM AND SCORING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Three people, zero overlap, and a plan for each of the six judged criteria.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14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4572000" cy="1325880"/>
          </a:xfrm>
          <a:prstGeom prst="roundRect">
            <a:avLst>
              <a:gd name="adj" fmla="val 9655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874519"/>
            <a:ext cx="777240" cy="7772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4142B"/>
                </a:solidFill>
                <a:latin typeface="Segoe UI"/>
              </a:rP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7373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[Member 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039112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F5A623"/>
                </a:solidFill>
                <a:latin typeface="Segoe UI"/>
              </a:rPr>
              <a:t>AI / NPU ENGINEER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331720"/>
            <a:ext cx="32918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Trains and exports both models; ExecuTorch INT8 lowering. Event day: integrate, tune to venue.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81528"/>
            <a:ext cx="4572000" cy="1325880"/>
          </a:xfrm>
          <a:prstGeom prst="roundRect">
            <a:avLst>
              <a:gd name="adj" fmla="val 9655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3355848"/>
            <a:ext cx="777240" cy="7772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55848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4142B"/>
                </a:solidFill>
                <a:latin typeface="Segoe UI"/>
              </a:rPr>
              <a:t>M2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218688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[Member 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52044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F5A623"/>
                </a:solidFill>
                <a:latin typeface="Segoe UI"/>
              </a:rPr>
              <a:t>ANDROID / HARDWARE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13048"/>
            <a:ext cx="32918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CameraX, AR overlay, AudioRecord, IR capture and replay, Office Kit Red Light sessions.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62856"/>
            <a:ext cx="4572000" cy="1325880"/>
          </a:xfrm>
          <a:prstGeom prst="roundRect">
            <a:avLst>
              <a:gd name="adj" fmla="val 9655"/>
            </a:avLst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4837176"/>
            <a:ext cx="777240" cy="7772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837176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4142B"/>
                </a:solidFill>
                <a:latin typeface="Segoe UI"/>
              </a:rPr>
              <a:t>M3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700016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[Member 3]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001768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F5A623"/>
                </a:solidFill>
                <a:latin typeface="Segoe UI"/>
              </a:rPr>
              <a:t>PRODUCT / DEMO PITCHER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294376"/>
            <a:ext cx="32918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Report UI, pricing logic, sourced citations, pitch script, judge Q&amp;A.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1600200"/>
            <a:ext cx="1828800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76672" y="1600200"/>
            <a:ext cx="1682496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Criterion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1600200"/>
            <a:ext cx="868680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5472" y="1600200"/>
            <a:ext cx="722375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Weight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1600200"/>
            <a:ext cx="3685032" cy="384048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4152" y="1600200"/>
            <a:ext cx="353872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How SmartLease Edge scores 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1984248"/>
            <a:ext cx="1828800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76672" y="1984248"/>
            <a:ext cx="168249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End product quality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1984248"/>
            <a:ext cx="868680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05472" y="1984248"/>
            <a:ext cx="722375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30%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1984248"/>
            <a:ext cx="3685032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74152" y="1984248"/>
            <a:ext cx="3538728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One complete flow: baseline  →  scan  →  tap  →  IR  →  signed PDF. Fallback for every model.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0" y="2587752"/>
            <a:ext cx="1828800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76672" y="2587752"/>
            <a:ext cx="168249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Novelty and impact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2587752"/>
            <a:ext cx="868680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05472" y="2587752"/>
            <a:ext cx="722375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20%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1000" y="2587752"/>
            <a:ext cx="3685032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4152" y="2587752"/>
            <a:ext cx="3538728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Offline + functional testing; no competitor has either. Deposit disputes affect every renter.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03520" y="3191256"/>
            <a:ext cx="1828800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76672" y="3191256"/>
            <a:ext cx="168249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Creative phone use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3191256"/>
            <a:ext cx="868680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05472" y="3191256"/>
            <a:ext cx="722375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15%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01000" y="3191256"/>
            <a:ext cx="3685032" cy="603504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4152" y="3191256"/>
            <a:ext cx="3538728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Camera, mic and IR blaster all exercised in the demo. The IR blaster is the part that does not exist on most phones.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0" y="3794760"/>
            <a:ext cx="1828800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76672" y="3794760"/>
            <a:ext cx="1682496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Technical depth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0" y="3794760"/>
            <a:ext cx="868680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05472" y="3794760"/>
            <a:ext cx="722375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15%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01000" y="3794760"/>
            <a:ext cx="3685032" cy="603504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74152" y="3794760"/>
            <a:ext cx="3538728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4-class instance segmentation on-device, grouped cross-validated acoustic model, ExecuTorch INT8 lowering compiled and in the repo.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03520" y="4398264"/>
            <a:ext cx="1828800" cy="54864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76672" y="4398264"/>
            <a:ext cx="1682496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Office Kit usage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32320" y="4398264"/>
            <a:ext cx="868680" cy="54864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05472" y="4398264"/>
            <a:ext cx="722375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10%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01000" y="4398264"/>
            <a:ext cx="3685032" cy="54864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74152" y="4398264"/>
            <a:ext cx="353872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Mirror, file transfer and remote control used through Red Light and in the pitch.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03520" y="4946904"/>
            <a:ext cx="1828800" cy="548640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76672" y="4946904"/>
            <a:ext cx="1682496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Demo and presentation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0" y="4946904"/>
            <a:ext cx="868680" cy="548640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05472" y="4946904"/>
            <a:ext cx="722375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10%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01000" y="4946904"/>
            <a:ext cx="3685032" cy="548640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74152" y="4946904"/>
            <a:ext cx="353872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3-minute script, one presenter + one driver, rehearsed 5×, recorded backup.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D1A63"/>
            </a:gs>
            <a:gs pos="100000">
              <a:srgbClr val="14142B"/>
            </a:gs>
          </a:gsLst>
          <a:lin scaled="0" ang="8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SMARTLEASE EDGE  ·  IQOO HACKATHON 2026  ·  CHENNAI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Every Indian renter deserves a fair move-out.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971800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935224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1EEFA"/>
                </a:solidFill>
                <a:latin typeface="Segoe UI"/>
              </a:rPr>
              <a:t>Working Android app in the repo today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429000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92424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1EEFA"/>
                </a:solidFill>
                <a:latin typeface="Segoe UI"/>
              </a:rPr>
              <a:t>Multi-modal: vision + acoustics + IR, all on-device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886200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49624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1EEFA"/>
                </a:solidFill>
                <a:latin typeface="Segoe UI"/>
              </a:rPr>
              <a:t>Built for iQOO 15 hardware, feature by feature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43400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06824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9768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1EEFA"/>
                </a:solidFill>
                <a:latin typeface="Segoe UI"/>
              </a:rPr>
              <a:t>100% offline, no network permission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800600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64024"/>
            <a:ext cx="3657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5488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1EEFA"/>
                </a:solidFill>
                <a:latin typeface="Segoe UI"/>
              </a:rPr>
              <a:t>Timestamped offline PDF report, generated on the 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03520"/>
            <a:ext cx="78638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5A623"/>
                </a:solidFill>
                <a:latin typeface="Segoe UI"/>
              </a:rPr>
              <a:t>We are not pitching an idea. We are showing you a working system.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A9A6C2"/>
                </a:solidFill>
                <a:latin typeface="Segoe UI"/>
              </a:rPr>
              <a:t>github.com/muhammedsayeedurrahman/smartlease-edge-chennai  ·  [email]  ·  Demo: live on the iQOO 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005840"/>
            <a:ext cx="2103120" cy="4386071"/>
          </a:xfrm>
          <a:prstGeom prst="roundRect">
            <a:avLst>
              <a:gd name="adj" fmla="val 19565"/>
            </a:avLst>
          </a:prstGeom>
          <a:solidFill>
            <a:srgbClr val="0B0B1A"/>
          </a:solidFill>
          <a:ln w="15875">
            <a:solidFill>
              <a:srgbClr val="4A4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creen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1078992"/>
            <a:ext cx="1956815" cy="4239767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9784080" y="1133856"/>
            <a:ext cx="91440" cy="91440"/>
          </a:xfrm>
          <a:prstGeom prst="ellipse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Judge Q&amp;A: the answers we have ready.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16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3291840" cy="365760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600200"/>
            <a:ext cx="3145536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Likely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1600200"/>
            <a:ext cx="7891272" cy="365760"/>
          </a:xfrm>
          <a:prstGeom prst="rect">
            <a:avLst/>
          </a:prstGeom>
          <a:solidFill>
            <a:srgbClr val="2D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67912" y="1600200"/>
            <a:ext cx="7744968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Answer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3291840" cy="54864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965960"/>
            <a:ext cx="3145536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What if the model detects a false positive?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965960"/>
            <a:ext cx="7891272" cy="54864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7912" y="1965960"/>
            <a:ext cx="774496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Every detection is shown with its confidence and with the segmenter that produced it. Our training set has no clean-wall negatives, so we expect false positives on grout lines, shadows and cables - that is the first gap we are closing.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514600"/>
            <a:ext cx="3291840" cy="548640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514600"/>
            <a:ext cx="3145536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How accurate is the area measurement?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60" y="2514600"/>
            <a:ext cx="7891272" cy="548640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67912" y="2514600"/>
            <a:ext cx="774496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It is not a measurement yet. We report the share of the frame the mask covers. The pinhole conversion needs camera intrinsics and a distance, and neither is read on device today.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063240"/>
            <a:ext cx="3291840" cy="54864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063240"/>
            <a:ext cx="3145536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Does it work on other phones?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94760" y="3063240"/>
            <a:ext cx="7891272" cy="54864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67912" y="3063240"/>
            <a:ext cx="774496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Any recent Android phone - the model runs on the CPU via PyTorch Lite. The IR blaster is the part that does not exist on most phones.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611880"/>
            <a:ext cx="3291840" cy="548640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3611880"/>
            <a:ext cx="3145536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Privacy?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94760" y="3611880"/>
            <a:ext cx="7891272" cy="548640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67912" y="3611880"/>
            <a:ext cx="774496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No INTERNET permission in the manifest, allowBackup is off, and every backup domain is excluded, so the report PDF is not eligible for cloud backup either. No account, no analytics.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160520"/>
            <a:ext cx="3291840" cy="54864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4160520"/>
            <a:ext cx="3145536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Why not ChatGPT plus a photo?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94760" y="4160520"/>
            <a:ext cx="7891272" cy="54864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67912" y="4160520"/>
            <a:ext cx="774496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It cannot report defect area, cannot hear a hollow tile, cannot fire an IR code, and needs internet in a flat that has none.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709159"/>
            <a:ext cx="3291840" cy="548640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4709159"/>
            <a:ext cx="3145536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Why YOLOv8 nano?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94760" y="4709159"/>
            <a:ext cx="7891272" cy="548640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67912" y="4709159"/>
            <a:ext cx="774496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6 MB INT8 is the size we lowered for HTP; on the CPU the nano model is what keeps a capture responsive. We have not measured latency on either yet.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257799"/>
            <a:ext cx="3291840" cy="54864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5257799"/>
            <a:ext cx="3145536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What is trained versus built live?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94760" y="5257799"/>
            <a:ext cx="7891272" cy="548640"/>
          </a:xfrm>
          <a:prstGeom prst="rect">
            <a:avLst/>
          </a:prstGeom>
          <a:solidFill>
            <a:srgbClr val="23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67912" y="5257799"/>
            <a:ext cx="774496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Both models and the ExecuTorch export path are done before Sep 12. Live: real AC IR capture, venue threshold tuning, integration polish. HTP integration is not done.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806439"/>
            <a:ext cx="3291840" cy="548640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" y="5806439"/>
            <a:ext cx="3145536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Business model?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94760" y="5806439"/>
            <a:ext cx="7891272" cy="548640"/>
          </a:xfrm>
          <a:prstGeom prst="rect">
            <a:avLst/>
          </a:prstGeom>
          <a:solidFill>
            <a:srgbClr val="2A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67912" y="5806439"/>
            <a:ext cx="774496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1EEFA"/>
                </a:solidFill>
                <a:latin typeface="Segoe UI"/>
              </a:rPr>
              <a:t>Free for consumers; Rs 299-499 per report; B2B2C licensing to co-living operators and rental platforms is the revenue anchor.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Sources behind every number on these slides.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19088"/>
            <a:ext cx="11183112" cy="0"/>
          </a:xfrm>
          <a:prstGeom prst="line">
            <a:avLst/>
          </a:prstGeom>
          <a:ln w="9525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SmartLease Edge · iQOO Hackathon 2026 · Chennai City Battle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78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8D8AAB"/>
                </a:solidFill>
                <a:latin typeface="Segoe UI"/>
              </a:rPr>
              <a:t>17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Model Tenancy Act 2021: 2-month residential deposit 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A9A6C2"/>
                </a:solidFill>
                <a:latin typeface="Consolas"/>
              </a:rPr>
              <a:t>prsindia.org/billtrack/the-model-tenancy-act-2021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029967"/>
            <a:ext cx="11183112" cy="0"/>
          </a:xfrm>
          <a:prstGeom prst="line">
            <a:avLst/>
          </a:prstGeom>
          <a:ln w="635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2048256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Bengaluru deposits 6–10 months, market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48256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A9A6C2"/>
                </a:solidFill>
                <a:latin typeface="Consolas"/>
              </a:rPr>
              <a:t>blogs.mittiyo.com · werentt.com (Karnataka deposit guides)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2478024"/>
            <a:ext cx="11183112" cy="0"/>
          </a:xfrm>
          <a:prstGeom prst="line">
            <a:avLst/>
          </a:prstGeom>
          <a:ln w="635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2496312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Deposit issues &gt;40% of landlord–tenant disputes (industry estimate)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96312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A9A6C2"/>
                </a:solidFill>
                <a:latin typeface="Consolas"/>
              </a:rPr>
              <a:t>99acres.com/articles/what-are-security-deposits.html · rentconnect.in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2926080"/>
            <a:ext cx="11183112" cy="0"/>
          </a:xfrm>
          <a:prstGeom prst="line">
            <a:avLst/>
          </a:prstGeom>
          <a:ln w="635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2944368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NoBroker inspection ₹1,649–5,999; zInspector, RentCheck, TurboTenant pricing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944368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A9A6C2"/>
                </a:solidFill>
                <a:latin typeface="Consolas"/>
              </a:rPr>
              <a:t>Vendor pages, Aug 2026 (see SmartLease-Edge-Chennai-Battle-Plan.pdf, section 2)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3374135"/>
            <a:ext cx="11183112" cy="0"/>
          </a:xfrm>
          <a:prstGeom prst="line">
            <a:avLst/>
          </a:prstGeom>
          <a:ln w="635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3392424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iQOO 15 specs: Snapdragon 8 Elite Gen 5, IMX921 OIS, 7000 mAh, 6000 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392424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A9A6C2"/>
                </a:solidFill>
                <a:latin typeface="Consolas"/>
              </a:rPr>
              <a:t>gsmarena.com · 91mobiles.com · iqoo.com/in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3822191"/>
            <a:ext cx="11183112" cy="0"/>
          </a:xfrm>
          <a:prstGeom prst="line">
            <a:avLst/>
          </a:prstGeom>
          <a:ln w="635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3840480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Hexagon NPU 37% faster; INT4/INT8/FP16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84048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A9A6C2"/>
                </a:solidFill>
                <a:latin typeface="Consolas"/>
              </a:rPr>
              <a:t>Qualcomm Snapdragon 8 Elite Gen 5 product brief (PDF)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4270248"/>
            <a:ext cx="11183112" cy="0"/>
          </a:xfrm>
          <a:prstGeom prst="line">
            <a:avLst/>
          </a:prstGeom>
          <a:ln w="635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4288536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Training data: four Roboflow Universe datasets, CC BY 4.0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288536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A9A6C2"/>
                </a:solidFill>
                <a:latin typeface="Consolas"/>
              </a:rPr>
              <a:t>infrastructure-monitoring - structural-defects - building-anomalies - concrete-defects (universe.roboflow.com)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4718303"/>
            <a:ext cx="11183112" cy="0"/>
          </a:xfrm>
          <a:prstGeom prst="line">
            <a:avLst/>
          </a:prstGeom>
          <a:ln w="635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4736592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iQOO Hackathon 2026 rubric, Red/Green Light, Office Kit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36592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A9A6C2"/>
                </a:solidFill>
                <a:latin typeface="Consolas"/>
              </a:rPr>
              <a:t>iqoo.reskilll.com · reskilll.com/blogs (iQOO City Battles, strategy guide)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5166359"/>
            <a:ext cx="11183112" cy="0"/>
          </a:xfrm>
          <a:prstGeom prst="line">
            <a:avLst/>
          </a:prstGeom>
          <a:ln w="635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5184648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ExecuTorch Qualcomm backend, PT2E quantisation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184648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A9A6C2"/>
                </a:solidFill>
                <a:latin typeface="Consolas"/>
              </a:rPr>
              <a:t>pytorch.org/executorch · Qualcomm AI Hub docs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5614416"/>
            <a:ext cx="11183112" cy="0"/>
          </a:xfrm>
          <a:prstGeom prst="line">
            <a:avLst/>
          </a:prstGeom>
          <a:ln w="635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5632704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1EEFA"/>
                </a:solidFill>
                <a:latin typeface="Segoe UI"/>
              </a:rPr>
              <a:t>Photos: cracked wall (CC0), peeling paint (CC BY-SA 4.0)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632704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A9A6C2"/>
                </a:solidFill>
                <a:latin typeface="Consolas"/>
              </a:rPr>
              <a:t>Wikimedia Commons; attribution in ATTRIBUTION.json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6062472"/>
            <a:ext cx="11183112" cy="0"/>
          </a:xfrm>
          <a:prstGeom prst="line">
            <a:avLst/>
          </a:prstGeom>
          <a:ln w="6350">
            <a:solidFill>
              <a:srgbClr val="3B3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